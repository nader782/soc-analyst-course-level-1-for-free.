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50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3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8" Type="http://schemas.openxmlformats.org/officeDocument/2006/relationships/slide" Target="slides/slide7.xml" /><Relationship Id="rId51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2560320"/>
            <a:ext cx="137160" cy="2011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  <a:latin typeface="Arial"/>
              </a:defRPr>
            </a:pPr>
            <a:r>
              <a:t>SOC Analyst Level 1</a:t>
            </a:r>
          </a:p>
          <a:p>
            <a:pPr>
              <a:spcBef>
                <a:spcPts val="1000"/>
              </a:spcBef>
              <a:defRPr sz="2800">
                <a:solidFill>
                  <a:srgbClr val="38BDF8"/>
                </a:solidFill>
                <a:latin typeface="Arial"/>
              </a:defRPr>
            </a:pPr>
            <a:r>
              <a:t>Lecture 1: What is a SOC? &amp; The Role of the Analyst</a:t>
            </a:r>
          </a:p>
          <a:p>
            <a:pPr>
              <a:spcBef>
                <a:spcPts val="3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Course Syllabus: Practical Security Analysis and Initial Incident Response</a:t>
            </a:r>
            <a:br/>
            <a:r>
              <a:t>Author: Nader Anam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Course &amp; Lecture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38BDF8"/>
                </a:solidFill>
              </a:rPr>
              <a:t>Course Title: </a:t>
            </a:r>
            <a:r>
              <a:rPr sz="1800">
                <a:solidFill>
                  <a:srgbClr val="F8FAFC"/>
                </a:solidFill>
              </a:rPr>
              <a:t>SOC Analyst Level 1: Practical Security Analysis and Initial Incident Response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38BDF8"/>
                </a:solidFill>
              </a:rPr>
              <a:t>Lecture Title: </a:t>
            </a:r>
            <a:r>
              <a:rPr sz="1800">
                <a:solidFill>
                  <a:srgbClr val="F8FAFC"/>
                </a:solidFill>
              </a:rPr>
              <a:t>What is a SOC? And What is the Role of the Analyst?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38BDF8"/>
                </a:solidFill>
              </a:rPr>
              <a:t>Author: </a:t>
            </a:r>
            <a:r>
              <a:rPr sz="1800">
                <a:solidFill>
                  <a:srgbClr val="F8FAFC"/>
                </a:solidFill>
              </a:rPr>
              <a:t>Nader Anam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38BDF8"/>
                </a:solidFill>
              </a:rPr>
              <a:t>Duration: </a:t>
            </a:r>
            <a:r>
              <a:rPr sz="1800">
                <a:solidFill>
                  <a:srgbClr val="F8FAFC"/>
                </a:solidFill>
              </a:rPr>
              <a:t>3 Training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CRITICAL INSTRUCTOR NOTE</a:t>
            </a:r>
          </a:p>
          <a:p>
            <a:pPr>
              <a:spcBef>
                <a:spcPts val="1500"/>
              </a:spcBef>
              <a:defRPr sz="1800">
                <a:solidFill>
                  <a:srgbClr val="F8FAFC"/>
                </a:solidFill>
              </a:defRPr>
            </a:pPr>
            <a:r>
              <a:t>This lecture does NOT aim to overwhelm students with tools or complex technical jargon. The core purpose is to build the correct analytical mindset from day one:</a:t>
            </a:r>
            <a:br/>
            <a:br/>
            <a:r>
              <a:t>• No judgment without evidence.</a:t>
            </a:r>
            <a:br/>
            <a:r>
              <a:t>• No escalation without understanding.</a:t>
            </a:r>
            <a:br/>
            <a:r>
              <a:t>• No closing an alert without solid justification.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1. Explain the core meaning of a SOC and its strategic role within an organization.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2. Differentiate precisely between an Event, an Alert, and an Incident.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3. Understand the hierarchy and operational tiers of SOC analysts.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4. Explain the standard lifecycle of a security alert from ingestion to closure.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5. Identify key security telemetry sources supplying data to the SOC.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6. Make logical initial decisions: Should the alert be closed or escalated?</a:t>
            </a:r>
          </a:p>
          <a:p>
            <a:pPr>
              <a:spcAft>
                <a:spcPts val="1400"/>
              </a:spcAft>
              <a:defRPr sz="2000">
                <a:solidFill>
                  <a:srgbClr val="F8FAFC"/>
                </a:solidFill>
              </a:defRPr>
            </a:pPr>
            <a:r>
              <a:t>7. Compose a professional, clear description of a Tier 1 SOC Analyst's role.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Why This Lecture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The Rookie Mistake vs. Professional Mindset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</a:defRPr>
            </a:pPr>
            <a:r>
              <a:t>Many students rush into learning complex tools like Microsoft Sentinel, Splunk, or jumping into advanced labs without understanding foundational workflows. This is a fatal mistake.</a:t>
            </a:r>
            <a:br/>
            <a:br/>
            <a:r>
              <a:t>A successful SOC Analyst doesn't win because they know which button to click. They win because they know HOW TO THINK.</a:t>
            </a:r>
          </a:p>
          <a:p>
            <a:pPr>
              <a:spcBef>
                <a:spcPts val="2000"/>
              </a:spcBef>
              <a:defRPr sz="1800">
                <a:solidFill>
                  <a:srgbClr val="38BDF8"/>
                </a:solidFill>
              </a:defRPr>
            </a:pPr>
            <a:r>
              <a:t>Every professional investigation requires asking core questions:</a:t>
            </a:r>
            <a:br/>
            <a:r>
              <a:t>• WHAT happened?  |  WHEN did it happen?  |  WHO is affected?</a:t>
            </a:r>
            <a:br/>
            <a:r>
              <a:t>• WHAT is the evidence?  |  Is this behavior normal or anomalous?</a:t>
            </a:r>
            <a:br/>
            <a:r>
              <a:t>• Should I close or escalate?  |  How do I document this properly?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What is a SOC?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4864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Security Operations Center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</a:defRPr>
            </a:pPr>
            <a:r>
              <a:t>A centralized unit within an organization responsible for monitoring the technical environment to discover, analyze, and defend against suspicious activities and security incidents.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6695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</a:defRPr>
            </a:pPr>
            <a:r>
              <a:t>Core Responsibilities</a:t>
            </a:r>
          </a:p>
          <a:p>
            <a:pPr>
              <a:spcBef>
                <a:spcPts val="600"/>
              </a:spcBef>
              <a:defRPr sz="1600">
                <a:solidFill>
                  <a:srgbClr val="F8FAFC"/>
                </a:solidFill>
              </a:defRPr>
            </a:pPr>
            <a:r>
              <a:t>• Continuous Security Event Monitoring</a:t>
            </a:r>
          </a:p>
          <a:p>
            <a:pPr>
              <a:spcBef>
                <a:spcPts val="600"/>
              </a:spcBef>
              <a:defRPr sz="1600">
                <a:solidFill>
                  <a:srgbClr val="F8FAFC"/>
                </a:solidFill>
              </a:defRPr>
            </a:pPr>
            <a:r>
              <a:t>• Real-time Alert Ingestion &amp; Triage</a:t>
            </a:r>
          </a:p>
          <a:p>
            <a:pPr>
              <a:spcBef>
                <a:spcPts val="600"/>
              </a:spcBef>
              <a:defRPr sz="1600">
                <a:solidFill>
                  <a:srgbClr val="F8FAFC"/>
                </a:solidFill>
              </a:defRPr>
            </a:pPr>
            <a:r>
              <a:t>• Attack Detection &amp; Validation</a:t>
            </a:r>
          </a:p>
          <a:p>
            <a:pPr>
              <a:spcBef>
                <a:spcPts val="600"/>
              </a:spcBef>
              <a:defRPr sz="1600">
                <a:solidFill>
                  <a:srgbClr val="F8FAFC"/>
                </a:solidFill>
              </a:defRPr>
            </a:pPr>
            <a:r>
              <a:t>• Severity Classification &amp; Risk Assessment</a:t>
            </a:r>
          </a:p>
          <a:p>
            <a:pPr>
              <a:spcBef>
                <a:spcPts val="600"/>
              </a:spcBef>
              <a:defRPr sz="1600">
                <a:solidFill>
                  <a:srgbClr val="F8FAFC"/>
                </a:solidFill>
              </a:defRPr>
            </a:pPr>
            <a:r>
              <a:t>• Evidence Collection &amp; Auditable Documentation</a:t>
            </a:r>
          </a:p>
          <a:p>
            <a:pPr>
              <a:spcBef>
                <a:spcPts val="600"/>
              </a:spcBef>
              <a:defRPr sz="1600">
                <a:solidFill>
                  <a:srgbClr val="F8FAFC"/>
                </a:solidFill>
              </a:defRPr>
            </a:pPr>
            <a:r>
              <a:t>• Incident Escalation &amp; Tactical Response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Visualizing the Enterprise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Imagine a typical mid-sized organization with: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500 Employee Endpoints (Laptops/Desktops)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50 Critical Servers (On-Premise &amp; Database)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Enterprise Email Gateways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Internal Local &amp; Corporate Networks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Identity &amp; Access Management (IAM) Portals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Next-Gen Firewalls (NGFW)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Endpoint Detection &amp; Response (EDR) agents</a:t>
            </a:r>
          </a:p>
          <a:p>
            <a:pPr>
              <a:spcBef>
                <a:spcPts val="400"/>
              </a:spcBef>
              <a:defRPr sz="1800">
                <a:solidFill>
                  <a:srgbClr val="38BDF8"/>
                </a:solidFill>
              </a:defRPr>
            </a:pPr>
            <a:r>
              <a:t>  → Cloud Infrastructure (AWS/Azure) environments</a:t>
            </a:r>
          </a:p>
          <a:p>
            <a:pPr>
              <a:spcBef>
                <a:spcPts val="2400"/>
              </a:spcBef>
              <a:defRPr sz="2000" b="1">
                <a:solidFill>
                  <a:srgbClr val="F59E0B"/>
                </a:solidFill>
              </a:defRPr>
            </a:pPr>
            <a:r>
              <a:t>Every single one of these components constantly generates system logs. The SOC exists to answer one singular, critical question:</a:t>
            </a:r>
            <a:br/>
            <a:r>
              <a:t>Is there a threat actively developing inside this massive sea of data?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Telemetry Sources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8BDF8"/>
                </a:solidFill>
              </a:defRPr>
            </a:pPr>
            <a:r>
              <a:t>Primary Data Inputs to the SOC Pipeline: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1. Endpoint Systems: </a:t>
            </a:r>
            <a:r>
              <a:rPr>
                <a:solidFill>
                  <a:srgbClr val="94A3B8"/>
                </a:solidFill>
              </a:rPr>
              <a:t>Windows Security logs, process execution telemetry.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2. Infrastructure Servers: </a:t>
            </a:r>
            <a:r>
              <a:rPr>
                <a:solidFill>
                  <a:srgbClr val="94A3B8"/>
                </a:solidFill>
              </a:rPr>
              <a:t>Linux auth.log, sudo activities, application logs.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3. Network Firewalls: </a:t>
            </a:r>
            <a:r>
              <a:rPr>
                <a:solidFill>
                  <a:srgbClr val="94A3B8"/>
                </a:solidFill>
              </a:rPr>
              <a:t>Allowed vs. blocked connections, source/destination mappings.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4. IDS / IPS Ecosystems: </a:t>
            </a:r>
            <a:r>
              <a:rPr>
                <a:solidFill>
                  <a:srgbClr val="94A3B8"/>
                </a:solidFill>
              </a:rPr>
              <a:t>Signatures matching known malicious network exploitation traffic.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5. EDR Platforms: </a:t>
            </a:r>
            <a:r>
              <a:rPr>
                <a:solidFill>
                  <a:srgbClr val="94A3B8"/>
                </a:solidFill>
              </a:rPr>
              <a:t>Behavioral analysis logs, proactive containment alerts on hosts.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6. Email Gateways: </a:t>
            </a:r>
            <a:r>
              <a:rPr>
                <a:solidFill>
                  <a:srgbClr val="94A3B8"/>
                </a:solidFill>
              </a:rPr>
              <a:t>Phishing campaigns, malicious URL detections, email spoofing flags.</a:t>
            </a:r>
          </a:p>
          <a:p>
            <a:pPr>
              <a:spcAft>
                <a:spcPts val="6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7. Cloud Security Tools: </a:t>
            </a:r>
            <a:r>
              <a:rPr>
                <a:solidFill>
                  <a:srgbClr val="94A3B8"/>
                </a:solidFill>
              </a:rPr>
              <a:t>IAM modifications, geolocation deviations, anomalous cloud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Tier 1 Analyst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8BDF8"/>
                </a:solidFill>
              </a:defRPr>
            </a:pPr>
            <a:r>
              <a:t>The Critical First Line of Defense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Alert Ingestion Management: Continuous tracking of security alerts streaming into the SIEM dashboard.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Initial Triage: Filtering out background environmental noise to focus heavily on suspicious patterns.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Context Accumulation: Gathering associated system logs, user context, host state, and network data.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False Positive Validation: Performing structured logic tests to separate benign noise from true threats.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Auditable Documentation: Writing precise, chronological, and objective logs of findings for each ticket.</a:t>
            </a:r>
          </a:p>
          <a:p>
            <a:pPr>
              <a:spcAft>
                <a:spcPts val="800"/>
              </a:spcAft>
              <a:defRPr sz="1600">
                <a:solidFill>
                  <a:srgbClr val="F8FAFC"/>
                </a:solidFill>
              </a:defRPr>
            </a:pPr>
            <a:r>
              <a:t>• Escalation Dispatch: Handing off validated, complex true positive alerts to Tier 2 incident responders.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Operational Guardrails: What L1 Must NOT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EF4444"/>
                </a:solidFill>
              </a:defRPr>
            </a:pPr>
            <a:r>
              <a:t>Strict Boundaries of Tier 1 Analysts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execute destructive actions or delete critical files from a host based solely on raw suspicion.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reboot, power down, or disrupt enterprise production servers without explicit administrative sign-off.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perform unilateral network isolation on highly critical business systems without escalation approval.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modify user group permissions or Active Directory configurations without a validated change order ticket.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make absolute, unbacked claims or accuse users of malicious intent without hard, verifiable evidence.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ignore an alert simply because it looks small or repetitive; persistent noise often hides a sophisticated attack.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❌ Never forward raw, unanalyzed alerts straight to Tier 2 without conducting thorough initial triage and collection.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Tiered SOC Operational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Tier 1 / Level 1</a:t>
            </a:r>
          </a:p>
          <a:p>
            <a:pPr>
              <a:spcAft>
                <a:spcPts val="1000"/>
              </a:spcAft>
              <a:defRPr sz="1400" i="1">
                <a:solidFill>
                  <a:srgbClr val="F59E0B"/>
                </a:solidFill>
              </a:defRPr>
            </a:pPr>
            <a:r>
              <a:t>Triage &amp; Validation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Monitors SIEM dashboards, validates alerts, executes initial data collection, and acts as the gatekeeper of the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Tier 2 / Level 2</a:t>
            </a:r>
          </a:p>
          <a:p>
            <a:pPr>
              <a:spcAft>
                <a:spcPts val="1000"/>
              </a:spcAft>
              <a:defRPr sz="1400" i="1">
                <a:solidFill>
                  <a:srgbClr val="F59E0B"/>
                </a:solidFill>
              </a:defRPr>
            </a:pPr>
            <a:r>
              <a:t>Incident Responder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Conducts deep-dive forensics, correlates multi-host telemetry, reconstructs attack paths, and orchestrates containment.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Tier 3 / Level 3</a:t>
            </a:r>
          </a:p>
          <a:p>
            <a:pPr>
              <a:spcAft>
                <a:spcPts val="1000"/>
              </a:spcAft>
              <a:defRPr sz="1400" i="1">
                <a:solidFill>
                  <a:srgbClr val="F59E0B"/>
                </a:solidFill>
              </a:defRPr>
            </a:pPr>
            <a:r>
              <a:t>Threat Hunter / Expert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Proactively hunts for stealth threats, builds custom detection logic, reverse-engineers malware, and optimizes the SIEM.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645920"/>
            <a:ext cx="25603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15400" y="182880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SOC Management</a:t>
            </a:r>
          </a:p>
          <a:p>
            <a:pPr>
              <a:spcAft>
                <a:spcPts val="1000"/>
              </a:spcAft>
              <a:defRPr sz="1400" i="1">
                <a:solidFill>
                  <a:srgbClr val="F59E0B"/>
                </a:solidFill>
              </a:defRPr>
            </a:pPr>
            <a:r>
              <a:t>Leadership &amp; Quality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Manages SLAs, aligns processes with frameworks, handles executive escalations, and drives reporting metrics.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Monitoring, Detection, Investigation &amp;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Monitoring : </a:t>
            </a:r>
            <a:r>
              <a:rPr sz="1600">
                <a:solidFill>
                  <a:srgbClr val="F8FAFC"/>
                </a:solidFill>
              </a:rPr>
              <a:t>Continuous oversight of infrastructure telemetry, logs, and events to maintain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Detection : </a:t>
            </a:r>
            <a:r>
              <a:rPr sz="1600">
                <a:solidFill>
                  <a:srgbClr val="F8FAFC"/>
                </a:solidFill>
              </a:rPr>
              <a:t>The automated or algorithmic identification of a potentially malicious anomaly or pattern.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Investigation : </a:t>
            </a:r>
            <a:r>
              <a:rPr sz="1600">
                <a:solidFill>
                  <a:srgbClr val="F8FAFC"/>
                </a:solidFill>
              </a:rPr>
              <a:t>The analytical process of dissecting an alert, correlating evidence, and uncovering root cause.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37759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029199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Response : </a:t>
            </a:r>
            <a:r>
              <a:rPr sz="1600">
                <a:solidFill>
                  <a:srgbClr val="F8FAFC"/>
                </a:solidFill>
              </a:rPr>
              <a:t>The tactical execution of containment, eradication, and system recovery playbooks.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THE FOUNDATIONAL TRIAD</a:t>
            </a:r>
          </a:p>
          <a:p>
            <a:pPr algn="ctr">
              <a:spcBef>
                <a:spcPts val="1500"/>
              </a:spcBef>
              <a:defRPr sz="4000" b="1">
                <a:solidFill>
                  <a:srgbClr val="F8FAFC"/>
                </a:solidFill>
              </a:defRPr>
            </a:pPr>
            <a:r>
              <a:t>Mastering the Difference Between</a:t>
            </a:r>
            <a:br/>
            <a:r>
              <a:t>Events, Alerts, and Incidents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Understanding: What is an Event?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8BDF8"/>
                </a:solidFill>
              </a:defRPr>
            </a:pPr>
            <a:r>
              <a:t>Definition of an Event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An Event is any observable occurrence or technical action captured and logged within an operating system, network stream, or application interface.</a:t>
            </a:r>
            <a:br/>
            <a:br/>
            <a:r>
              <a:t>Crucial Rule: An Event is NOT inherently dangerous. It is simply a historical footprint of an action.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Standard Examples of Benign Events:</a:t>
            </a:r>
            <a:br/>
            <a:r>
              <a:t>• A domain user successfully authenticates into their email client.</a:t>
            </a:r>
            <a:br/>
            <a:r>
              <a:t>• A workstation initiates an HTTP outbound connection to an informational news site.</a:t>
            </a:r>
            <a:br/>
            <a:r>
              <a:t>• A legitimate background system service starts up during system boot.</a:t>
            </a:r>
            <a:br/>
            <a:r>
              <a:t>• A local user successfully updates their password.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Understanding: What is an Alert?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F59E0B"/>
                </a:solidFill>
              </a:defRPr>
            </a:pPr>
            <a:r>
              <a:t>Definition of an Alert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An Alert is a notification generated by an internal correlation engine or security control indicating that an Event (or sequence of Events) matches a pre-configured signature or rule of suspicious behavior.</a:t>
            </a:r>
            <a:br/>
            <a:br/>
            <a:r>
              <a:t>Crucial Rule: An Alert flags something anomalous that explicitly requires human verification.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Standard Examples of Security Alerts:</a:t>
            </a:r>
            <a:br/>
            <a:r>
              <a:t>• 25 authentication failures occur against a single user account within a 3-minute window.</a:t>
            </a:r>
            <a:br/>
            <a:r>
              <a:t>• A local script executes an obfuscated or encoded PowerShell command string.</a:t>
            </a:r>
            <a:br/>
            <a:r>
              <a:t>• An internal host attempts an outbound network mapping query to a known malicious C2 IP.</a:t>
            </a:r>
            <a:br/>
            <a:r>
              <a:t>• An EDR sensor quarantines an unrecognized executable file matching a suspicious heuristic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Understanding: What is an Incident?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EF4444"/>
                </a:solidFill>
              </a:defRPr>
            </a:pPr>
            <a:r>
              <a:t>Definition of an Incident</a:t>
            </a:r>
          </a:p>
          <a:p>
            <a:pPr>
              <a:defRPr sz="1800">
                <a:solidFill>
                  <a:srgbClr val="F8FAFC"/>
                </a:solidFill>
              </a:defRPr>
            </a:pPr>
            <a:r>
              <a:t>An Incident is a confirmed, validated security event (or set of correlated events) that poses a high-probability or realized threat to the Confidentiality, Integrity, or Availability (CIA Triad) of organizational data, assets, or systems.</a:t>
            </a:r>
          </a:p>
          <a:p>
            <a:pPr>
              <a:spcBef>
                <a:spcPts val="1500"/>
              </a:spcBef>
              <a:defRPr sz="1800">
                <a:solidFill>
                  <a:srgbClr val="94A3B8"/>
                </a:solidFill>
              </a:defRPr>
            </a:pPr>
            <a:r>
              <a:t>Standard Examples of Realized Incidents:</a:t>
            </a:r>
            <a:br/>
            <a:r>
              <a:t>• Ransomware successfully executes and begins encryption operations on a network share.</a:t>
            </a:r>
            <a:br/>
            <a:r>
              <a:t>• Validated compromise of a high-privilege corporate administrator account.</a:t>
            </a:r>
            <a:br/>
            <a:r>
              <a:t>• Confirmed bulk database data exfiltration to an unauthorized external repository.</a:t>
            </a:r>
            <a:br/>
            <a:r>
              <a:t>• An active malware strain successfully establishes a command-and-control tunnel from an internal production host.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Definitive Triad Comparison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820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Core Meaning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Practical Example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Requires L1 Triage?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Historical log of any action or occurrence.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User logs in successfully.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No (unless tied to alert)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ALERT</a:t>
                      </a:r>
                    </a:p>
                  </a:txBody>
                  <a:tcPr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Suspicious pattern flagging an anomaly.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20 failed logins in 4 minutes.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Yes, mandatory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INCIDENT</a:t>
                      </a:r>
                    </a:p>
                  </a:txBody>
                  <a:tcPr>
                    <a:solidFill>
                      <a:srgbClr val="991B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Confirmed compromise or active threat.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Ransomware executing on endpoint.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Yes, immediate escalation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Quick Drill: Scenario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8FAFC"/>
                </a:solidFill>
              </a:defRPr>
            </a:pPr>
            <a:r>
              <a:t>Classify the following technical events accurately:</a:t>
            </a:r>
          </a:p>
          <a:p>
            <a:pPr>
              <a:spcAft>
                <a:spcPts val="800"/>
              </a:spcAft>
              <a:defRPr sz="1600"/>
            </a:pPr>
            <a:r>
              <a:rPr>
                <a:solidFill>
                  <a:srgbClr val="F8FAFC"/>
                </a:solidFill>
              </a:rPr>
              <a:t>1. User 'Ahmed' logged in successfully from his standard workplace PC.  →  </a:t>
            </a:r>
            <a:r>
              <a:rPr b="1">
                <a:solidFill>
                  <a:srgbClr val="38BDF8"/>
                </a:solidFill>
              </a:rPr>
              <a:t>EVENT (Benign activity)</a:t>
            </a:r>
          </a:p>
          <a:p>
            <a:pPr>
              <a:spcAft>
                <a:spcPts val="800"/>
              </a:spcAft>
              <a:defRPr sz="1600"/>
            </a:pPr>
            <a:r>
              <a:rPr>
                <a:solidFill>
                  <a:srgbClr val="F8FAFC"/>
                </a:solidFill>
              </a:rPr>
              <a:t>2. User 'Ahmed' failed authentication 25 times within a 3-minute window.  →  </a:t>
            </a:r>
            <a:r>
              <a:rPr b="1">
                <a:solidFill>
                  <a:srgbClr val="38BDF8"/>
                </a:solidFill>
              </a:rPr>
              <a:t>ALERT (Suspicious authentication anomaly)</a:t>
            </a:r>
          </a:p>
          <a:p>
            <a:pPr>
              <a:spcAft>
                <a:spcPts val="800"/>
              </a:spcAft>
              <a:defRPr sz="1600"/>
            </a:pPr>
            <a:r>
              <a:rPr>
                <a:solidFill>
                  <a:srgbClr val="F8FAFC"/>
                </a:solidFill>
              </a:rPr>
              <a:t>3. A malicious script successfully executes and changes system files on Ahmed's laptop.  →  </a:t>
            </a:r>
            <a:r>
              <a:rPr b="1">
                <a:solidFill>
                  <a:srgbClr val="38BDF8"/>
                </a:solidFill>
              </a:rPr>
              <a:t>INCIDENT (Active confirmed compromise)</a:t>
            </a:r>
          </a:p>
          <a:p>
            <a:pPr>
              <a:spcAft>
                <a:spcPts val="800"/>
              </a:spcAft>
              <a:defRPr sz="1600"/>
            </a:pPr>
            <a:r>
              <a:rPr>
                <a:solidFill>
                  <a:srgbClr val="F8FAFC"/>
                </a:solidFill>
              </a:rPr>
              <a:t>4. User 'Sara' browses an informational public website.  →  </a:t>
            </a:r>
            <a:r>
              <a:rPr b="1">
                <a:solidFill>
                  <a:srgbClr val="38BDF8"/>
                </a:solidFill>
              </a:rPr>
              <a:t>EVENT (Normal environmental flow)</a:t>
            </a:r>
          </a:p>
          <a:p>
            <a:pPr>
              <a:spcAft>
                <a:spcPts val="800"/>
              </a:spcAft>
              <a:defRPr sz="1600"/>
            </a:pPr>
            <a:r>
              <a:rPr>
                <a:solidFill>
                  <a:srgbClr val="F8FAFC"/>
                </a:solidFill>
              </a:rPr>
              <a:t>5. An internal server initiates an unprompted connection directly to a flagged C2 server IP.  →  </a:t>
            </a:r>
            <a:r>
              <a:rPr b="1">
                <a:solidFill>
                  <a:srgbClr val="38BDF8"/>
                </a:solidFill>
              </a:rPr>
              <a:t>INCIDENT (High confidence compromise)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Where Do Alerts Originate?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38BDF8"/>
                </a:solidFill>
              </a:defRPr>
            </a:pPr>
            <a:r>
              <a:t>The Alert Ingestion Core Ecosystem:</a:t>
            </a:r>
          </a:p>
          <a:p>
            <a:pPr>
              <a:spcAft>
                <a:spcPts val="10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SIEM (Security Information &amp; Event Management): </a:t>
            </a:r>
            <a:r>
              <a:rPr>
                <a:solidFill>
                  <a:srgbClr val="94A3B8"/>
                </a:solidFill>
              </a:rPr>
              <a:t>The central brain. Aggregates logs from everywhere, runs correlation rules, and raises alerts.</a:t>
            </a:r>
          </a:p>
          <a:p>
            <a:pPr>
              <a:spcAft>
                <a:spcPts val="10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EDR (Endpoint Detection &amp; Response): </a:t>
            </a:r>
            <a:r>
              <a:rPr>
                <a:solidFill>
                  <a:srgbClr val="94A3B8"/>
                </a:solidFill>
              </a:rPr>
              <a:t>Monitors host behaviors, process trees, memory space, and flags file-level anomalies directly.</a:t>
            </a:r>
          </a:p>
          <a:p>
            <a:pPr>
              <a:spcAft>
                <a:spcPts val="10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Network Security Gateways (Firewalls / IPS): </a:t>
            </a:r>
            <a:r>
              <a:rPr>
                <a:solidFill>
                  <a:srgbClr val="94A3B8"/>
                </a:solidFill>
              </a:rPr>
              <a:t>Analyzes inline traffic flows and logs packet filtering anomalies or bad protocol behavior.</a:t>
            </a:r>
          </a:p>
          <a:p>
            <a:pPr>
              <a:spcAft>
                <a:spcPts val="1000"/>
              </a:spcAft>
              <a:defRPr sz="1600"/>
            </a:pPr>
            <a:r>
              <a:rPr b="1">
                <a:solidFill>
                  <a:srgbClr val="F8FAFC"/>
                </a:solidFill>
              </a:rPr>
              <a:t>SEG (Secure Email Gateway): </a:t>
            </a:r>
            <a:r>
              <a:rPr>
                <a:solidFill>
                  <a:srgbClr val="94A3B8"/>
                </a:solidFill>
              </a:rPr>
              <a:t>Dissects ingress email messages, running heuristic scanning for malicious links and attachment payloads.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Anatomy of a SIEM Alert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4864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Alert_Name: </a:t>
            </a:r>
            <a:r>
              <a:rPr>
                <a:solidFill>
                  <a:srgbClr val="F8FAFC"/>
                </a:solidFill>
                <a:latin typeface="Consolas"/>
              </a:rPr>
              <a:t>Multiple Failed Login Attempts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Target_User: </a:t>
            </a:r>
            <a:r>
              <a:rPr>
                <a:solidFill>
                  <a:srgbClr val="F8FAFC"/>
                </a:solidFill>
                <a:latin typeface="Consolas"/>
              </a:rPr>
              <a:t>ahmed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Source_IP: </a:t>
            </a:r>
            <a:r>
              <a:rPr>
                <a:solidFill>
                  <a:srgbClr val="F8FAFC"/>
                </a:solidFill>
                <a:latin typeface="Consolas"/>
              </a:rPr>
              <a:t>185.44.10.20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Failure_Count: </a:t>
            </a:r>
            <a:r>
              <a:rPr>
                <a:solidFill>
                  <a:srgbClr val="F8FAFC"/>
                </a:solidFill>
                <a:latin typeface="Consolas"/>
              </a:rPr>
              <a:t>23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Time_Window: </a:t>
            </a:r>
            <a:r>
              <a:rPr>
                <a:solidFill>
                  <a:srgbClr val="F8FAFC"/>
                </a:solidFill>
                <a:latin typeface="Consolas"/>
              </a:rPr>
              <a:t>4 minutes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Target_System: </a:t>
            </a:r>
            <a:r>
              <a:rPr>
                <a:solidFill>
                  <a:srgbClr val="F8FAFC"/>
                </a:solidFill>
                <a:latin typeface="Consolas"/>
              </a:rPr>
              <a:t>Corporate VPN Portal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Initial_Severity: </a:t>
            </a:r>
            <a:r>
              <a:rPr>
                <a:solidFill>
                  <a:srgbClr val="F8FAFC"/>
                </a:solidFill>
                <a:latin typeface="Consolas"/>
              </a:rPr>
              <a:t>Medium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6695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</a:defRPr>
            </a:pPr>
            <a:r>
              <a:t>The Analyst Triage Mental Process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❓ Is this source IP recognized as a corporate asset or public VPN?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❓ Did a single SUCCESSFUL login occur immediately after these 23 failures?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❓ Does user account 'ahmed' hold high domain administrative privileges?</a:t>
            </a:r>
          </a:p>
          <a:p>
            <a:pPr>
              <a:spcAft>
                <a:spcPts val="800"/>
              </a:spcAft>
              <a:defRPr sz="1500">
                <a:solidFill>
                  <a:srgbClr val="F8FAFC"/>
                </a:solidFill>
              </a:defRPr>
            </a:pPr>
            <a:r>
              <a:t>❓ Are there matching failed logs across other user targets from this same IP?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Security Alert Investigation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210312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1. Ingest/Receive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Alert registers in dashboard via telemetry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210312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2. Triage Check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Perform parsing and contextual check of parameters.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011680"/>
            <a:ext cx="210312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21945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3. Investigation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Accumulate log files, traces, and indicators of compromise.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210312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0" y="21945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4. Final Decision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Determine state: False Positive vs. True Positive Escalation.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2011680"/>
            <a:ext cx="2103120" cy="3840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38360" y="2194560"/>
            <a:ext cx="1920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5. Document &amp; Act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Complete historical ticket logging and execute routing.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Lifecycle Deep Dive: Ingestion &amp; Triage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Phase 1: Ingestion / Receive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Alerts drop into the dashboard via SIEM correlation rules, specialized EDR detections, malware engine logs, firewall filters, or proactive end-user security reports.</a:t>
            </a:r>
            <a:br/>
            <a:br/>
            <a:r>
              <a:t>Action: Parse out timestamp, unique IDs, asset names, and trigger logic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Phase 2: Structured Triage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Identify exact target classification (Host vs. Service).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Pinpoint affected user roles and authorization level.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Isolate precise execution timestamps.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Assess default out-of-the-box system severity values.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• Crosscheck if matching alerts have fired on this device.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Lifecycle Deep Dive: Investigation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8BDF8"/>
                </a:solidFill>
              </a:defRPr>
            </a:pPr>
            <a:r>
              <a:t>Phase 3: Deep Evidence Accumulation</a:t>
            </a:r>
          </a:p>
          <a:p>
            <a:pPr>
              <a:spcAft>
                <a:spcPts val="1500"/>
              </a:spcAft>
              <a:defRPr sz="1600">
                <a:solidFill>
                  <a:srgbClr val="F8FAFC"/>
                </a:solidFill>
              </a:defRPr>
            </a:pPr>
            <a:r>
              <a:t>The investigative block requires hunting down core telemetry variables to reconstruct context. Analysts gather concrete system facts rather than guessing.</a:t>
            </a:r>
          </a:p>
          <a:p>
            <a:pPr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• Operational Event Log IDs (e.g., Windows 4625/4688)</a:t>
            </a:r>
          </a:p>
          <a:p>
            <a:pPr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• Source and Destination IP Mappings</a:t>
            </a:r>
          </a:p>
          <a:p>
            <a:pPr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• Hostnames &amp; Target User Accounts</a:t>
            </a:r>
          </a:p>
          <a:p>
            <a:pPr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• File Hashes (MD5/SHA256) &amp; Process Spawning Trees</a:t>
            </a:r>
          </a:p>
          <a:p>
            <a:pPr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• URL/URI Request strings and HTTP Headers</a:t>
            </a:r>
          </a:p>
          <a:p>
            <a:pPr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• Historical Contextual baselines of Target Behavior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Lifecycle Deep Dive: Decision &amp; Documentation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Phase 4: Case Decision Paths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✔ False Positive: Benign alert error; noise.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✔ Benign True Positive: Real event but explicitly authorized.</a:t>
            </a:r>
          </a:p>
          <a:p>
            <a:pPr>
              <a:spcAft>
                <a:spcPts val="600"/>
              </a:spcAft>
              <a:defRPr sz="1500">
                <a:solidFill>
                  <a:srgbClr val="F8FAFC"/>
                </a:solidFill>
              </a:defRPr>
            </a:pPr>
            <a:r>
              <a:t>✔ Escalate to Tier 2: Confirmed threat or deep analytical complexity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Phase 5: Auditable Logging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If an action is not documented, it legally never occurred within security ops. Every single step must be explicitly recorded.</a:t>
            </a:r>
            <a:br/>
            <a:br/>
            <a:r>
              <a:t>Rule: Always draft a case investigation log with the operating assumption that a separate analyst will have to step in and resume your file immediately.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Playbook: Criteria to Close an Alert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22C55E"/>
                </a:solidFill>
              </a:defRPr>
            </a:pPr>
            <a:r>
              <a:t>Validated Conditions for Ticket Closure: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✔ Zero empirical traces of active malicious intent are located.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✔ The flagged system activity perfectly aligns with known corporate operations.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✔ The alert correlates explicitly with a pre-arranged, documented network penetration test.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✔ Direct verification with the target user establishes a legitimate, authorized action.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</a:defRPr>
            </a:pPr>
            <a:r>
              <a:t>✔ Zero related malicious lateral indicators are discovered on surrounding hosts.</a:t>
            </a:r>
          </a:p>
          <a:p>
            <a:pPr>
              <a:spcBef>
                <a:spcPts val="1500"/>
              </a:spcBef>
              <a:defRPr sz="1400">
                <a:solidFill>
                  <a:srgbClr val="38BDF8"/>
                </a:solidFill>
                <a:latin typeface="Consolas"/>
              </a:defRPr>
            </a:pPr>
            <a:r>
              <a:t>Example Log Reason:</a:t>
            </a:r>
            <a:br/>
            <a:r>
              <a:t>'Closed as False Positive. Source IP tracks to enterprise gateway VPN pool. User validated execution of administrative login workflow.'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Playbook: Critical Escalation Triggers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 b="1">
                <a:solidFill>
                  <a:srgbClr val="EF4444"/>
                </a:solidFill>
              </a:defRPr>
            </a:pPr>
            <a:r>
              <a:t>Mandatory Conditions for Escalation to Tier 2: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🚨 Empirical execution of uncontained suspicious script structures or unrecognized binaries.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🚨 A realized successful login occurs immediately after a heavy sequence of authentication failures.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🚨 A production host establishes verified data transfers to a known flagged C2 IP node.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🚨 High-privilege accounts (Domain Admins) display anomalous, out-of-hours behavioral paths.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🚨 Multiple distinct hosts across independent subnets trigger related structural security alerts.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🚨 The alert presents complex indicators that cannot be safely validated within Tier 1 SLA windows.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Operational Metrics: Severity vs. Confidence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Alert Severity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Measures the potential scope of impact and operational damage if the flagged threat is true.</a:t>
            </a:r>
            <a:br/>
            <a:br/>
            <a:r>
              <a:t>Scales: Low, Medium, High, Critical.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Analyst Confidence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Measures the technical weight and trustworthiness of the collected evidence.</a:t>
            </a:r>
            <a:br/>
            <a:br/>
            <a:r>
              <a:t>• Low Confidence: Single weak log trace.</a:t>
            </a:r>
            <a:br/>
            <a:r>
              <a:t>• High Confidence: Multi-point correlated proof.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Standard Severity Classification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38BDF8"/>
                </a:solidFill>
              </a:rPr>
              <a:t>LOW  |  </a:t>
            </a:r>
            <a:r>
              <a:rPr sz="1500">
                <a:solidFill>
                  <a:srgbClr val="F8FAFC"/>
                </a:solidFill>
              </a:rPr>
              <a:t>Minor anomalies with no active impact. Example: A single isolated password failure from a local host.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59E0B"/>
                </a:solidFill>
              </a:rPr>
              <a:t>MEDIUM  |  </a:t>
            </a:r>
            <a:r>
              <a:rPr sz="1500">
                <a:solidFill>
                  <a:srgbClr val="F8FAFC"/>
                </a:solidFill>
              </a:rPr>
              <a:t>Highly suspicious actions lacking immediate proof of breach. Example: A localized brute force sequence with zero successful logins.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EF4444"/>
                </a:solidFill>
              </a:rPr>
              <a:t>HIGH  |  </a:t>
            </a:r>
            <a:r>
              <a:rPr sz="1500">
                <a:solidFill>
                  <a:srgbClr val="F8FAFC"/>
                </a:solidFill>
              </a:rPr>
              <a:t>Clear operational indicators of compromise or lateral movement. Example: A valid system login occurring directly after a brute force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937759"/>
            <a:ext cx="10820095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83479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EF4444"/>
                </a:solidFill>
              </a:rPr>
              <a:t>CRITICAL  |  </a:t>
            </a:r>
            <a:r>
              <a:rPr sz="1500">
                <a:solidFill>
                  <a:srgbClr val="F8FAFC"/>
                </a:solidFill>
              </a:rPr>
              <a:t>Severe enterprise threat with massive systemic scope. Example: Active widespread Ransomware propagation or database data leak.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Analyst Investigation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1. What is the explicit technical alert classification type?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2. What is the precise chronological timeline of the activity?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3. Which precise assets, servers, or user accounts are targeted?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4. What are the specific network coordinates (Source IP vs. Destination IP)?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5. What concrete audit logs exist to serve as foundational evidence?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6. Does this baseline behavior map onto standard user operational roles?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7. Are there secondary environmental indicators pointing to lateral threat vectors?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8. What is the realistic severity classification within this context?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9. Does the case require immediate handoff escalation or closing?</a:t>
            </a:r>
          </a:p>
          <a:p>
            <a:pPr>
              <a:spcAft>
                <a:spcPts val="400"/>
              </a:spcAft>
              <a:defRPr sz="1600">
                <a:solidFill>
                  <a:srgbClr val="F8FAFC"/>
                </a:solidFill>
              </a:defRPr>
            </a:pPr>
            <a:r>
              <a:t>10. What specific tactical remediation step should be recommended?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Case Study 1: Brute Force Attempt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Alert Telemetry Parameters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Alert Name: </a:t>
            </a:r>
            <a:r>
              <a:rPr>
                <a:solidFill>
                  <a:srgbClr val="F8FAFC"/>
                </a:solidFill>
                <a:latin typeface="Consolas"/>
              </a:rPr>
              <a:t>Multiple Failed Logins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 User: </a:t>
            </a:r>
            <a:r>
              <a:rPr>
                <a:solidFill>
                  <a:srgbClr val="F8FAFC"/>
                </a:solidFill>
                <a:latin typeface="Consolas"/>
              </a:rPr>
              <a:t>khaled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Source IP: </a:t>
            </a:r>
            <a:r>
              <a:rPr>
                <a:solidFill>
                  <a:srgbClr val="F8FAFC"/>
                </a:solidFill>
                <a:latin typeface="Consolas"/>
              </a:rPr>
              <a:t>45.77.20.10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Attempts: </a:t>
            </a:r>
            <a:r>
              <a:rPr>
                <a:solidFill>
                  <a:srgbClr val="F8FAFC"/>
                </a:solidFill>
                <a:latin typeface="Consolas"/>
              </a:rPr>
              <a:t>30 failures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Timestamp: </a:t>
            </a:r>
            <a:r>
              <a:rPr>
                <a:solidFill>
                  <a:srgbClr val="F8FAFC"/>
                </a:solidFill>
                <a:latin typeface="Consolas"/>
              </a:rPr>
              <a:t>02:15 AM (Out of Hours)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Successful Login After: </a:t>
            </a:r>
            <a:r>
              <a:rPr>
                <a:solidFill>
                  <a:srgbClr val="F8FAFC"/>
                </a:solidFill>
                <a:latin typeface="Consolas"/>
              </a:rPr>
              <a:t>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Triage &amp; Verdict Case Analysis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Fact Analysis: Heavy out-of-hours authentication failure sequence detected. Crucially, no successful follow-up access occurred.</a:t>
            </a:r>
            <a:br/>
            <a:r>
              <a:t>• Breach Status: Zero structural indicators of system compromise.</a:t>
            </a:r>
            <a:br/>
            <a:br/>
            <a:r>
              <a:t>Proposed Playbook Decision:</a:t>
            </a:r>
            <a:br/>
            <a:r>
              <a:t>• Severity: Medium</a:t>
            </a:r>
            <a:br/>
            <a:r>
              <a:t>• Verdict: Suspicious authentication activity (External Brute Force)</a:t>
            </a:r>
            <a:br/>
            <a:r>
              <a:t>• Action: Close alert after documenting, verify source IP reputation, and monitor for changes.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Case Study 2: Realized Account Compromise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EF4444"/>
                </a:solidFill>
              </a:defRPr>
            </a:pPr>
            <a:r>
              <a:t>Alert Telemetry Parameters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Alert Name: </a:t>
            </a:r>
            <a:r>
              <a:rPr>
                <a:solidFill>
                  <a:srgbClr val="F8FAFC"/>
                </a:solidFill>
                <a:latin typeface="Consolas"/>
              </a:rPr>
              <a:t>Failures Followed by Success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 User: </a:t>
            </a:r>
            <a:r>
              <a:rPr>
                <a:solidFill>
                  <a:srgbClr val="F8FAFC"/>
                </a:solidFill>
                <a:latin typeface="Consolas"/>
              </a:rPr>
              <a:t>finance.manager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Source IP: </a:t>
            </a:r>
            <a:r>
              <a:rPr>
                <a:solidFill>
                  <a:srgbClr val="F8FAFC"/>
                </a:solidFill>
                <a:latin typeface="Consolas"/>
              </a:rPr>
              <a:t>185.20.40.9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Attempts: </a:t>
            </a:r>
            <a:r>
              <a:rPr>
                <a:solidFill>
                  <a:srgbClr val="F8FAFC"/>
                </a:solidFill>
                <a:latin typeface="Consolas"/>
              </a:rPr>
              <a:t>18 failures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Successful Login After: </a:t>
            </a:r>
            <a:r>
              <a:rPr>
                <a:solidFill>
                  <a:srgbClr val="F8FAFC"/>
                </a:solidFill>
                <a:latin typeface="Consolas"/>
              </a:rPr>
              <a:t>YES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Timestamp: </a:t>
            </a:r>
            <a:r>
              <a:rPr>
                <a:solidFill>
                  <a:srgbClr val="F8FAFC"/>
                </a:solidFill>
                <a:latin typeface="Consolas"/>
              </a:rPr>
              <a:t>01:40 AM (Anomalous)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Triage &amp; Verdict Case Analysis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Fact Analysis: Brute force vector immediately followed by an authenticated system access entry. Target possesses deep financial environment permissions.</a:t>
            </a:r>
            <a:br/>
            <a:r>
              <a:t>• Breach Status: High probability of network account compromise.</a:t>
            </a:r>
            <a:br/>
            <a:br/>
            <a:r>
              <a:t>Proposed Playbook Decision:</a:t>
            </a:r>
            <a:br/>
            <a:r>
              <a:t>• Severity: High</a:t>
            </a:r>
            <a:br/>
            <a:r>
              <a:t>• Verdict: Realized Account Compromise</a:t>
            </a:r>
            <a:br/>
            <a:r>
              <a:t>• Action: Immediate Tier 2 Escalation. Recommend password reset, check MFA token logs, and check historical logs for data leaks.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Classroom Drill 1: Classification Challenge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8200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Environmental Infrastructure Scenario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Classification (Event / Alert / Incident)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 regular domain user authenticates successfully into their workstation at 9:00 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94A3B8"/>
                          </a:solidFill>
                        </a:defRPr>
                      </a:pPr>
                      <a:r>
                        <a:t>[ Student Triage Box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50 failed authentication attempts register against the 'admin' account within 60 seconds.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94A3B8"/>
                          </a:solidFill>
                        </a:defRPr>
                      </a:pPr>
                      <a:r>
                        <a:t>[ Student Triage Box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 known active ransomware strain executes and begins local disk modifications on a host.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94A3B8"/>
                          </a:solidFill>
                        </a:defRPr>
                      </a:pPr>
                      <a:r>
                        <a:t>[ Student Triage Box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An enterprise internal host establishes network streaming outbound to a flagged malicious C2 node.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94A3B8"/>
                          </a:solidFill>
                        </a:defRPr>
                      </a:pPr>
                      <a:r>
                        <a:t>[ Student Triage Box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An administrative user creates a high-privilege account outside authorized change windows.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94A3B8"/>
                          </a:solidFill>
                        </a:defRPr>
                      </a:pPr>
                      <a:r>
                        <a:t>[ Student Triage Box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F8FAFC"/>
                          </a:solidFill>
                        </a:defRPr>
                      </a:pPr>
                      <a:r>
                        <a:t>A standard system user initiates a password modification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94A3B8"/>
                          </a:solidFill>
                        </a:defRPr>
                      </a:pPr>
                      <a:r>
                        <a:t>[ Student Triage Box 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Classroom Drill 1: Solution Key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45920"/>
          <a:ext cx="108200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Environmental Infrastructure Scenario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38BDF8"/>
                          </a:solidFill>
                        </a:defRPr>
                      </a:pPr>
                      <a:r>
                        <a:t>Classification (Event / Alert / Incident)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A regular domain user authenticates successfully into their workstation at 9:00 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EVENT (Standard Operational Footprint)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50 failed authentication attempts register against the 'admin' account within 60 seconds.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ALERT (Active Brute Force Signatures)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A known active ransomware strain executes and begins local disk modifications on a host.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INCIDENT (Confirmed System Breach)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An enterprise internal host establishes network streaming outbound to a flagged malicious C2 node.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INCIDENT (Active Command &amp; Control Connection)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An administrative user creates a high-privilege account outside authorized change windows.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ALERT / INCIDENT (Context Dependent Context)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A standard system user initiates a password modification workflow.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</a:defRPr>
                      </a:pPr>
                      <a:r>
                        <a:t>EVENT (Benign Administrative Routine)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Classroom Drill 2: Analyzing Live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4864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Ingested Telemetry Parameters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Alert Name: </a:t>
            </a:r>
            <a:r>
              <a:rPr>
                <a:solidFill>
                  <a:srgbClr val="F8FAFC"/>
                </a:solidFill>
                <a:latin typeface="Consolas"/>
              </a:rPr>
              <a:t>Suspicious PowerShell Command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Affected Host: </a:t>
            </a:r>
            <a:r>
              <a:rPr>
                <a:solidFill>
                  <a:srgbClr val="F8FAFC"/>
                </a:solidFill>
                <a:latin typeface="Consolas"/>
              </a:rPr>
              <a:t>HR-LAPTOP-12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User Target: </a:t>
            </a:r>
            <a:r>
              <a:rPr>
                <a:solidFill>
                  <a:srgbClr val="F8FAFC"/>
                </a:solidFill>
                <a:latin typeface="Consolas"/>
              </a:rPr>
              <a:t>rana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Command Line: </a:t>
            </a:r>
            <a:r>
              <a:rPr>
                <a:solidFill>
                  <a:srgbClr val="F8FAFC"/>
                </a:solidFill>
                <a:latin typeface="Consolas"/>
              </a:rPr>
              <a:t>powershell.exe -enc aQBlAHgA...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Timestamp: </a:t>
            </a:r>
            <a:r>
              <a:rPr>
                <a:solidFill>
                  <a:srgbClr val="F8FAFC"/>
                </a:solidFill>
                <a:latin typeface="Consolas"/>
              </a:rPr>
              <a:t>11:43 PM (Anomalous Hours)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EDR Sensor Action: </a:t>
            </a:r>
            <a:r>
              <a:rPr>
                <a:solidFill>
                  <a:srgbClr val="F8FAFC"/>
                </a:solidFill>
                <a:latin typeface="Consolas"/>
              </a:rPr>
              <a:t>ALLOWED (Not Blocked)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Related Network Trace: </a:t>
            </a:r>
            <a:r>
              <a:rPr>
                <a:solidFill>
                  <a:srgbClr val="F8FAFC"/>
                </a:solidFill>
                <a:latin typeface="Consolas"/>
              </a:rPr>
              <a:t>External Outbound to 91.200.10.5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6695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</a:defRPr>
            </a:pPr>
            <a:r>
              <a:t>Student Assignment Objectives:</a:t>
            </a:r>
          </a:p>
          <a:p>
            <a:pPr>
              <a:spcBef>
                <a:spcPts val="800"/>
              </a:spcBef>
              <a:defRPr sz="1600">
                <a:solidFill>
                  <a:srgbClr val="F8FAFC"/>
                </a:solidFill>
              </a:defRPr>
            </a:pPr>
            <a:r>
              <a:t>→ Identify exact risk indicators present within this log.</a:t>
            </a:r>
          </a:p>
          <a:p>
            <a:pPr>
              <a:spcBef>
                <a:spcPts val="800"/>
              </a:spcBef>
              <a:defRPr sz="1600">
                <a:solidFill>
                  <a:srgbClr val="F8FAFC"/>
                </a:solidFill>
              </a:defRPr>
            </a:pPr>
            <a:r>
              <a:t>→ Formulate the proper case verdict: Close vs. Escalate?</a:t>
            </a:r>
          </a:p>
          <a:p>
            <a:pPr>
              <a:spcBef>
                <a:spcPts val="800"/>
              </a:spcBef>
              <a:defRPr sz="1600">
                <a:solidFill>
                  <a:srgbClr val="F8FAFC"/>
                </a:solidFill>
              </a:defRPr>
            </a:pPr>
            <a:r>
              <a:t>→ Justify your triage decision using objective technical facts.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Classroom Drill 2: Solution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22C55E"/>
                </a:solidFill>
              </a:defRPr>
            </a:pPr>
            <a:r>
              <a:t>Professional Forensic Breakdown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• Risk Indicators: Base64 obfuscated (-enc) execution payload, anomalous execution hours, plus matching unprompted external outbound network traffic anomalies.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• System Leak Vector: The EDR engine explicitly recorded an ALLOWED status flag. The payload executed successfully and is uncontained.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• Final Action Playbook Verdict: ESCALATE IMMEDIATELY TO TIER 2.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• Auditable Case Justification: Multiple high-confidence risk vectors align seamlessly (obfuscated administrative commands combined with concurrent external network communication). High probability of system command-and-control exploitation.</a:t>
            </a:r>
          </a:p>
          <a:p>
            <a:pPr>
              <a:spcAft>
                <a:spcPts val="600"/>
              </a:spcAft>
              <a:defRPr sz="1600">
                <a:solidFill>
                  <a:srgbClr val="F8FAFC"/>
                </a:solidFill>
              </a:defRPr>
            </a:pPr>
            <a:r>
              <a:t>• Metrics Matrix Mapping: Severity: HIGH  |  Confidence: HIGH  |  Escalation Forwarding: MANDATORY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Top 10 Mistakes of Rookie Analysts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1. Judging a complex alert based purely on its surface name string.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2. Arbitrarily closing high-priority tickets without providing empirical proof log entries.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3. Mass-forwarding unparsed alerts straight onto Tier 2, overloading the pipeline.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4. Utilizing heavy cybersecurity buzzwords without validating clear structural logs.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5. Conflating standard background system events with validated critical incidents.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6. Ignoring situational timestamps and localized administrative behavioral contexts.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7. Failing to compile organized, chronological, and auditable case logs.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8. Analyzing an alert in total isolation without scanning surrounding system assets.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9. Hyper-focusing on UI navigation menus rather than core security investigation logic.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10. Completely losing visibility of business reality and forgetting to assess localized operational impact.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Golden Rules of Security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EF4444"/>
                </a:solidFill>
              </a:defRPr>
            </a:pPr>
            <a:r>
              <a:t>Incorrect Phrasing</a:t>
            </a:r>
          </a:p>
          <a:p>
            <a:pPr>
              <a:spcAft>
                <a:spcPts val="2000"/>
              </a:spcAft>
              <a:defRPr sz="1600">
                <a:solidFill>
                  <a:srgbClr val="F8FAFC"/>
                </a:solidFill>
              </a:defRPr>
            </a:pPr>
            <a:r>
              <a:t>❌ 'This is an absolute hack / compromise!'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❌ 'This alert is completely junk and unimportant.'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11112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22C55E"/>
                </a:solidFill>
              </a:defRPr>
            </a:pPr>
            <a:r>
              <a:t>Professional Phrasing</a:t>
            </a:r>
          </a:p>
          <a:p>
            <a:pPr>
              <a:spcAft>
                <a:spcPts val="1500"/>
              </a:spcAft>
              <a:defRPr sz="1600">
                <a:solidFill>
                  <a:srgbClr val="F8FAFC"/>
                </a:solidFill>
              </a:defRPr>
            </a:pPr>
            <a:r>
              <a:t>✔ 'Correlated indicators point to an anomalous behavior profile, specifically involving vectors A and B. Escalating for forensic investigation.'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✔ 'Review of infrastructure records shows no evidence of threat propagation across paths X or Y. Closing safely as False Positive with evidence log attached.'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Standard Incident Triage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</a:defRPr>
            </a:pPr>
            <a:r>
              <a:t>Copy and execute this exact structured outline for every practical case lab: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Alert_Name: [Ingested Identification String]  |  Timestamp: [ISO Date-Time Format]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Target_User: [Account Identifiers]  |  Target_Host: [Asset Hostname Mapping]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Source_IP: [Origin Coordinates]  |  Destination_IP: [Target Coordinates]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Telemetry_Source: [SIEM / EDR / Firewall Engine Name]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Observed_Activity: [Objective chronological play-by-play narrative of system logs]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Collected_Evidence: [Concrete Log IDs, SHA256 Hashes, URI Strings]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Triage_Verdict: [False Positive / Benign True Positive / Verified Threat Escalation]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Recommended_Action: [Immediate remediation tasks for the environment]</a:t>
            </a:r>
          </a:p>
          <a:p>
            <a:pPr>
              <a:spcAft>
                <a:spcPts val="400"/>
              </a:spcAft>
              <a:defRPr sz="1300">
                <a:solidFill>
                  <a:srgbClr val="38BDF8"/>
                </a:solidFill>
                <a:latin typeface="Consolas"/>
              </a:defRPr>
            </a:pPr>
            <a:r>
              <a:t>Escalation_Forwarding: [MANDATORY YES / NO]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Workshop Breakout Lab Exercises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38BDF8"/>
                </a:solidFill>
              </a:defRPr>
            </a:pPr>
            <a:r>
              <a:t>Interactive Live Classroom Assignment:</a:t>
            </a:r>
          </a:p>
          <a:p>
            <a:pPr>
              <a:spcAft>
                <a:spcPts val="1500"/>
              </a:spcAft>
              <a:defRPr sz="1600">
                <a:solidFill>
                  <a:srgbClr val="F8FAFC"/>
                </a:solidFill>
              </a:defRPr>
            </a:pPr>
            <a:r>
              <a:t>Students will break into small operational squads. Each independent team will receive a specific live SIEM alert file to parse out, reconstruct context, determine final case alignment, and compose a 5-line structural log summary using our triage template.</a:t>
            </a:r>
          </a:p>
          <a:p>
            <a:pPr>
              <a:spcAft>
                <a:spcPts val="400"/>
              </a:spcAft>
              <a:defRPr sz="1600">
                <a:solidFill>
                  <a:srgbClr val="F59E0B"/>
                </a:solidFill>
              </a:defRPr>
            </a:pPr>
            <a:r>
              <a:t>• Operational Team 1 Matrix Focus: Target Alert 'Multiple Failed Logins'</a:t>
            </a:r>
          </a:p>
          <a:p>
            <a:pPr>
              <a:spcAft>
                <a:spcPts val="400"/>
              </a:spcAft>
              <a:defRPr sz="1600">
                <a:solidFill>
                  <a:srgbClr val="F59E0B"/>
                </a:solidFill>
              </a:defRPr>
            </a:pPr>
            <a:r>
              <a:t>• Operational Team 2 Matrix Focus: Target Alert 'Malware Blocked'</a:t>
            </a:r>
          </a:p>
          <a:p>
            <a:pPr>
              <a:spcAft>
                <a:spcPts val="400"/>
              </a:spcAft>
              <a:defRPr sz="1600">
                <a:solidFill>
                  <a:srgbClr val="F59E0B"/>
                </a:solidFill>
              </a:defRPr>
            </a:pPr>
            <a:r>
              <a:t>• Operational Team 3 Matrix Focus: Target Alert 'Login From New Geolocation'</a:t>
            </a:r>
          </a:p>
          <a:p>
            <a:pPr>
              <a:spcAft>
                <a:spcPts val="400"/>
              </a:spcAft>
              <a:defRPr sz="1600">
                <a:solidFill>
                  <a:srgbClr val="F59E0B"/>
                </a:solidFill>
              </a:defRPr>
            </a:pPr>
            <a:r>
              <a:t>• Operational Team 4 Matrix Focus: Target Alert 'Internal Network Reconstruction Port Scan'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Lab Solution: Group 2 'Malware Blocked'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4864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Alert Trigger: </a:t>
            </a:r>
            <a:r>
              <a:rPr>
                <a:solidFill>
                  <a:srgbClr val="F8FAFC"/>
                </a:solidFill>
                <a:latin typeface="Consolas"/>
              </a:rPr>
              <a:t>Malware Blocked by Host Sensor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 Host: </a:t>
            </a:r>
            <a:r>
              <a:rPr>
                <a:solidFill>
                  <a:srgbClr val="F8FAFC"/>
                </a:solidFill>
                <a:latin typeface="Consolas"/>
              </a:rPr>
              <a:t>SALES-PC-08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 User: </a:t>
            </a:r>
            <a:r>
              <a:rPr>
                <a:solidFill>
                  <a:srgbClr val="F8FAFC"/>
                </a:solidFill>
                <a:latin typeface="Consolas"/>
              </a:rPr>
              <a:t>omar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 Binary: </a:t>
            </a:r>
            <a:r>
              <a:rPr>
                <a:solidFill>
                  <a:srgbClr val="F8FAFC"/>
                </a:solidFill>
                <a:latin typeface="Consolas"/>
              </a:rPr>
              <a:t>invoice_update.exe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Storage Path: </a:t>
            </a:r>
            <a:r>
              <a:rPr>
                <a:solidFill>
                  <a:srgbClr val="F8FAFC"/>
                </a:solidFill>
                <a:latin typeface="Consolas"/>
              </a:rPr>
              <a:t>C:\Users\omar\Downloads\</a:t>
            </a:r>
          </a:p>
          <a:p>
            <a:endParaRPr>
              <a:solidFill>
                <a:srgbClr val="F8FAFC"/>
              </a:solidFill>
              <a:latin typeface="Consolas"/>
            </a:endParaRP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Sensor State: </a:t>
            </a:r>
            <a:r>
              <a:rPr>
                <a:solidFill>
                  <a:srgbClr val="F8FAFC"/>
                </a:solidFill>
                <a:latin typeface="Consolas"/>
              </a:rPr>
              <a:t>BLOCKED &amp; QUARANTINED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Network Stream: </a:t>
            </a:r>
            <a:r>
              <a:rPr>
                <a:solidFill>
                  <a:srgbClr val="F8FAFC"/>
                </a:solidFill>
                <a:latin typeface="Consolas"/>
              </a:rPr>
              <a:t>Zero outbound matching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6695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Operational Case Triage Analysis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Fact Analysis: Executable drops directly into user downloads directory. EDR caught and quarantined the payload immediately before script spawning or initialization occurs.</a:t>
            </a:r>
            <a:br/>
            <a:br/>
            <a:r>
              <a:t>Playbook Case Resolution:</a:t>
            </a:r>
            <a:br/>
            <a:r>
              <a:t>• Severity: Medium</a:t>
            </a:r>
            <a:br/>
            <a:r>
              <a:t>• Case Verdict: True Positive (Successfully Contained Vector)</a:t>
            </a:r>
            <a:br/>
            <a:r>
              <a:t>• Action: Close case ticket. No escalation required due to active control defense containment. Pivot to mail gateway to find ingestion source.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Lab Solution: Group 3 'Impossible Geolocation'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4864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Alert Trigger: </a:t>
            </a:r>
            <a:r>
              <a:rPr>
                <a:solidFill>
                  <a:srgbClr val="F8FAFC"/>
                </a:solidFill>
                <a:latin typeface="Consolas"/>
              </a:rPr>
              <a:t>Login From Unrecognized Location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Target User: </a:t>
            </a:r>
            <a:r>
              <a:rPr>
                <a:solidFill>
                  <a:srgbClr val="F8FAFC"/>
                </a:solidFill>
                <a:latin typeface="Consolas"/>
              </a:rPr>
              <a:t>ali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Source Country: </a:t>
            </a:r>
            <a:r>
              <a:rPr>
                <a:solidFill>
                  <a:srgbClr val="F8FAFC"/>
                </a:solidFill>
                <a:latin typeface="Consolas"/>
              </a:rPr>
              <a:t>Germany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User Department: </a:t>
            </a:r>
            <a:r>
              <a:rPr>
                <a:solidFill>
                  <a:srgbClr val="F8FAFC"/>
                </a:solidFill>
                <a:latin typeface="Consolas"/>
              </a:rPr>
              <a:t>Global Corporate Sales</a:t>
            </a: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MFA Status: </a:t>
            </a:r>
            <a:r>
              <a:rPr>
                <a:solidFill>
                  <a:srgbClr val="F8FAFC"/>
                </a:solidFill>
                <a:latin typeface="Consolas"/>
              </a:rPr>
              <a:t>PASSED (Token Authenticated)</a:t>
            </a:r>
          </a:p>
          <a:p>
            <a:endParaRPr>
              <a:solidFill>
                <a:srgbClr val="F8FAFC"/>
              </a:solidFill>
              <a:latin typeface="Consolas"/>
            </a:endParaRPr>
          </a:p>
          <a:p>
            <a:pPr>
              <a:spcAft>
                <a:spcPts val="600"/>
              </a:spcAft>
              <a:defRPr sz="1400"/>
            </a:pPr>
            <a:r>
              <a:rPr b="1">
                <a:solidFill>
                  <a:srgbClr val="38BDF8"/>
                </a:solidFill>
                <a:latin typeface="Consolas"/>
              </a:rPr>
              <a:t>Historical Baseline: </a:t>
            </a:r>
            <a:r>
              <a:rPr>
                <a:solidFill>
                  <a:srgbClr val="F8FAFC"/>
                </a:solidFill>
                <a:latin typeface="Consolas"/>
              </a:rPr>
              <a:t>No travel registry logs found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6695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05295" y="18288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Operational Case Triage Analysis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Fact Analysis: Authentication requests originate from overseas. However, target role is sales-heavy and multi-factor challenge tokens validated completely.</a:t>
            </a:r>
            <a:br/>
            <a:br/>
            <a:r>
              <a:t>Playbook Case Resolution:</a:t>
            </a:r>
            <a:br/>
            <a:r>
              <a:t>• Severity: Medium</a:t>
            </a:r>
            <a:br/>
            <a:r>
              <a:t>• Case Verdict: Validation Required Flow</a:t>
            </a:r>
            <a:br/>
            <a:r>
              <a:t>• Action: Do not close blindly. Contact user to confirm travel profile. Escalate to Tier 2 immediately if user flags access as unauthorized.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Lecture Summary &amp; Core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</a:defRPr>
            </a:pPr>
            <a:r>
              <a:t>✔ The operational architecture of a SOC depends equally on People, Process, and Technology.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</a:defRPr>
            </a:pPr>
            <a:r>
              <a:t>✔ A Tier 1 Analyst function is to act as the primary structural data filter for the enterprise framework.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</a:defRPr>
            </a:pPr>
            <a:r>
              <a:t>✔ Events are objective records; Alerts indicate high probability anomalies; Incidents represent verified systemic compromise.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</a:defRPr>
            </a:pPr>
            <a:r>
              <a:t>✔ Every investigation lifecycle step must transition through clear phases: Receive → Triage → Investigate → Decide → Document.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</a:defRPr>
            </a:pPr>
            <a:r>
              <a:t>✔ Case playbook conclusions must derive explicitly from hard empirical logs rather than intuition.</a:t>
            </a:r>
          </a:p>
          <a:p>
            <a:pPr>
              <a:spcAft>
                <a:spcPts val="1000"/>
              </a:spcAft>
              <a:defRPr sz="1700">
                <a:solidFill>
                  <a:srgbClr val="F8FAFC"/>
                </a:solidFill>
              </a:defRPr>
            </a:pPr>
            <a:r>
              <a:t>✔ Auditable case note entries must capture structural answers to: What, When, Who, and Where.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Classroom Review Questions Block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1. Define the operational goal of a Security Operations Center in one sentence.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2. Reconstruct the functional line separating an Alert block from an Incident record.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3. Isolate 5 core technical log telemetry sources supporting modern SOC environments.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4. Outline the exact boundary guardrails constraining Tier 1 Analyst remediation permissions.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5. Under what explicit technical conditions can an alert be securely logged as closed?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6. Define the structural definition of an operational False Positive.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7. Why is mapping an alert based entirely on its textual name a dangerous operation?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8. Explain the exact analytical variance between alert Severity metrics and Confidence values.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9. Defend the absolute necessity of maintaining detailed historical ticket documentation.</a:t>
            </a:r>
          </a:p>
          <a:p>
            <a:pPr>
              <a:spcAft>
                <a:spcPts val="400"/>
              </a:spcAft>
              <a:defRPr sz="1500">
                <a:solidFill>
                  <a:srgbClr val="F8FAFC"/>
                </a:solidFill>
              </a:defRPr>
            </a:pPr>
            <a:r>
              <a:t>10. State the 5 core triage questions that must formulate an analyst's baseline mental framework.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Live Classroom Pop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Question 1: A validated, successful enterprise user login event originating from a standard production endpoint maps to: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   A) Incident  |  B) Event  |  C) Malware Execution  |  D) Command &amp; Control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Question 2: 35 separate authentication failures targeting an active 'admin' account within 45 seconds is classified as: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   A) Alert  |  B) Benign Event Only  |  C) Standard Maintenance  |  D) Forensic Summary Report</a:t>
            </a:r>
          </a:p>
          <a:p>
            <a:pPr>
              <a:spcAft>
                <a:spcPts val="400"/>
              </a:spcAft>
              <a:defRPr sz="1600" b="1">
                <a:solidFill>
                  <a:srgbClr val="38BDF8"/>
                </a:solidFill>
              </a:defRPr>
            </a:pPr>
            <a:r>
              <a:t>Question 3: The primary operational mandate bounding a Tier 1 SOC Analyst involves:</a:t>
            </a:r>
          </a:p>
          <a:p>
            <a:pPr>
              <a:spcAft>
                <a:spcPts val="1400"/>
              </a:spcAft>
              <a:defRPr sz="1500">
                <a:solidFill>
                  <a:srgbClr val="F8FAFC"/>
                </a:solidFill>
              </a:defRPr>
            </a:pPr>
            <a:r>
              <a:t>   A) Application Development  |  B) Full Sandbox Reversing  |  C) Alert Triage &amp; Invariant Data Collection  |  D) Enterprise Architecture Sign-off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Pop Quiz: Rationale &amp; Answer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8FAFC"/>
                </a:solidFill>
              </a:defRPr>
            </a:pPr>
            <a:r>
              <a:t>Answer 1: [ B ] → Event. Standard system operations displaying matching, legitimate environmental usage map explicitly to benign events.</a:t>
            </a:r>
          </a:p>
          <a:p>
            <a:pPr>
              <a:spcAft>
                <a:spcPts val="1800"/>
              </a:spcAft>
              <a:defRPr sz="1600">
                <a:solidFill>
                  <a:srgbClr val="F8FAFC"/>
                </a:solidFill>
              </a:defRPr>
            </a:pPr>
            <a:r>
              <a:t>Answer 2: [ A ] → Alert. Heavy automated authentication loops match explicit brute-force attack signatures, generating critical monitoring alerts.</a:t>
            </a:r>
          </a:p>
          <a:p>
            <a:pPr>
              <a:spcAft>
                <a:spcPts val="1800"/>
              </a:spcAft>
              <a:defRPr sz="1600">
                <a:solidFill>
                  <a:srgbClr val="F8FAFC"/>
                </a:solidFill>
              </a:defRPr>
            </a:pPr>
            <a:r>
              <a:t>Answer 3: [ C ] → Alert Triage &amp; Invariant Data Collection. Tier 1 analysts execute initial filtering loops and data collection workflows to support the incident response pipeline.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Homework Assignment 1: Analytical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59E0B"/>
                </a:solidFill>
              </a:defRPr>
            </a:pPr>
            <a:r>
              <a:t>Task Objective: Technical Essay Compilation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Compose a professional analytical brief spanning 10 to 15 structural lines precisely titled:</a:t>
            </a:r>
            <a:br/>
            <a:r>
              <a:t>'The Mechanics of Tier 1 Alert Triage and the Security Ingestion Pipeline'</a:t>
            </a:r>
            <a:br/>
            <a:br/>
            <a:r>
              <a:t>The final deliverable document must rigorously articulate the following parameters:</a:t>
            </a:r>
            <a:br/>
            <a:r>
              <a:t>• A formalized definition of an enterprise SOC infrastructure ecosystem.</a:t>
            </a:r>
            <a:br/>
            <a:r>
              <a:t>• The specific operational duties constraining a Tier 1 Analyst.</a:t>
            </a:r>
            <a:br/>
            <a:r>
              <a:t>• A clear explanation of the differences between an Event, an Alert, and an Incident.</a:t>
            </a:r>
            <a:br/>
            <a:r>
              <a:t>• Practical scenarios illustrating an alert vs. a realized active incident scenario.</a:t>
            </a:r>
            <a:br/>
            <a:r>
              <a:t>• A clear justification of why rigorous documentation controls protect the pipeline.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Homework Assignment 2: Practical Scenario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59E0B"/>
                </a:solidFill>
              </a:defRPr>
            </a:pPr>
            <a:r>
              <a:t>Task Objective: Scenario Classification Matrix</a:t>
            </a:r>
          </a:p>
          <a:p>
            <a:pPr>
              <a:spcAft>
                <a:spcPts val="1000"/>
              </a:spcAft>
              <a:defRPr sz="1600">
                <a:solidFill>
                  <a:srgbClr val="F8FAFC"/>
                </a:solidFill>
              </a:defRPr>
            </a:pPr>
            <a:r>
              <a:t>Students must copy, map, and complete a classification grid for these specific real-world production events, detailing exact rationale and required evidence parameters for each item:</a:t>
            </a:r>
          </a:p>
          <a:p>
            <a:pPr>
              <a:spcAft>
                <a:spcPts val="400"/>
              </a:spcAft>
              <a:defRPr sz="1500">
                <a:solidFill>
                  <a:srgbClr val="38BDF8"/>
                </a:solidFill>
              </a:defRPr>
            </a:pPr>
            <a:r>
              <a:t>• Scenario A: Domain identity account maps successful access credentials from a recognized local host asset.</a:t>
            </a:r>
          </a:p>
          <a:p>
            <a:pPr>
              <a:spcAft>
                <a:spcPts val="400"/>
              </a:spcAft>
              <a:defRPr sz="1500">
                <a:solidFill>
                  <a:srgbClr val="38BDF8"/>
                </a:solidFill>
              </a:defRPr>
            </a:pPr>
            <a:r>
              <a:t>• Scenario B: 40 distinct authentication failure events register sequentially from an unmapped external host IP.</a:t>
            </a:r>
          </a:p>
          <a:p>
            <a:pPr>
              <a:spcAft>
                <a:spcPts val="400"/>
              </a:spcAft>
              <a:defRPr sz="1500">
                <a:solidFill>
                  <a:srgbClr val="38BDF8"/>
                </a:solidFill>
              </a:defRPr>
            </a:pPr>
            <a:r>
              <a:t>• Scenario C: A verified malicious payload executes file modification routines on an active workstation share.</a:t>
            </a:r>
          </a:p>
          <a:p>
            <a:pPr>
              <a:spcAft>
                <a:spcPts val="400"/>
              </a:spcAft>
              <a:defRPr sz="1500">
                <a:solidFill>
                  <a:srgbClr val="38BDF8"/>
                </a:solidFill>
              </a:defRPr>
            </a:pPr>
            <a:r>
              <a:t>• Scenario D: Network firewalls catch and actively filter out an unauthorized ingress tracking connection sweep.</a:t>
            </a:r>
          </a:p>
          <a:p>
            <a:pPr>
              <a:spcAft>
                <a:spcPts val="400"/>
              </a:spcAft>
              <a:defRPr sz="1500">
                <a:solidFill>
                  <a:srgbClr val="38BDF8"/>
                </a:solidFill>
              </a:defRPr>
            </a:pPr>
            <a:r>
              <a:t>• Scenario E: Target user forwards an anomalous email entity holding an embedded unrecognized URI redirect link.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Standard Homework Submission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94A3B8"/>
                </a:solidFill>
              </a:defRPr>
            </a:pPr>
            <a:r>
              <a:t>Enforce this exact engineering framework layout for your scenario matrix submission: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Consolas"/>
              </a:defRPr>
            </a:pPr>
            <a:r>
              <a:t>Case_Target: [Scenario String Identifier Context]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Consolas"/>
              </a:defRPr>
            </a:pPr>
            <a:r>
              <a:t>Structural_Classification: [Event / Alert / Incident Framework Decision]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Consolas"/>
              </a:defRPr>
            </a:pPr>
            <a:r>
              <a:t>Playbook_Rationale: [Clear technical analysis explaining the classification choice]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Consolas"/>
              </a:defRPr>
            </a:pPr>
            <a:r>
              <a:t>Evidence_Requirement: [Specify exact system logs, event IDs, or network variables required]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Consolas"/>
              </a:defRPr>
            </a:pPr>
            <a:r>
              <a:t>Initial_Severity: [Low / Medium / High / Critical Assessment]</a:t>
            </a:r>
          </a:p>
          <a:p>
            <a:pPr>
              <a:spcAft>
                <a:spcPts val="600"/>
              </a:spcAft>
              <a:defRPr sz="1400">
                <a:solidFill>
                  <a:srgbClr val="38BDF8"/>
                </a:solidFill>
                <a:latin typeface="Consolas"/>
              </a:defRPr>
            </a:pPr>
            <a:r>
              <a:t>Operational_Verdict: [Close Ticket / Monitor Activity / Immediate Escalation]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SOC ANALYST LEVEL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rial"/>
              </a:defRPr>
            </a:pPr>
            <a:r>
              <a:t>Looking Ahead: Lecture 2 Telemetry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1082009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289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38BDF8"/>
                </a:solidFill>
              </a:defRPr>
            </a:pPr>
            <a:r>
              <a:t>Next Session: Networking Core Fundamentals for SOC Analysts</a:t>
            </a:r>
          </a:p>
          <a:p>
            <a:pPr>
              <a:spcBef>
                <a:spcPts val="1000"/>
              </a:spcBef>
              <a:defRPr sz="1800">
                <a:solidFill>
                  <a:srgbClr val="F8FAFC"/>
                </a:solidFill>
              </a:defRPr>
            </a:pPr>
            <a:r>
              <a:t>We will deep dive into reading and decoding active network log telemetry flows directly:</a:t>
            </a:r>
            <a:br/>
            <a:r>
              <a:t>• IP Addressing Architecture (Public vs. Private Node routing topologies)</a:t>
            </a:r>
            <a:br/>
            <a:r>
              <a:t>• Core Protocol Systems (TCP Handshakes, UDP flows, DNS mappings, HTTP/S headers)</a:t>
            </a:r>
            <a:br/>
            <a:r>
              <a:t>• Network Address Translation (NAT) traffic tracking mechanics</a:t>
            </a:r>
          </a:p>
          <a:p>
            <a:pPr>
              <a:spcBef>
                <a:spcPts val="2000"/>
              </a:spcBef>
              <a:defRPr sz="1600">
                <a:solidFill>
                  <a:srgbClr val="F59E0B"/>
                </a:solidFill>
                <a:latin typeface="Consolas"/>
              </a:defRPr>
            </a:pPr>
            <a:r>
              <a:t>Target Operational Milestone Objective:</a:t>
            </a:r>
            <a:br/>
            <a:r>
              <a:t>Empower students to instantly parse out, dissect, and read raw network connection footprints such as:</a:t>
            </a:r>
            <a:br/>
            <a:r>
              <a:t>10.0.0.15:49220  →  8.8.8.8:53 UDP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naderamjed3@gmail.com</cp:lastModifiedBy>
  <cp:revision>2</cp:revision>
  <dcterms:created xsi:type="dcterms:W3CDTF">2013-01-27T09:14:16Z</dcterms:created>
  <dcterms:modified xsi:type="dcterms:W3CDTF">2026-06-17T19:32:35Z</dcterms:modified>
  <cp:category/>
</cp:coreProperties>
</file>